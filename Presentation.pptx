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lsm" ContentType="application/vnd.ms-excel.sheet.macroEnabled.12"/>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72" r:id="rId5"/>
    <p:sldId id="258" r:id="rId6"/>
    <p:sldId id="259" r:id="rId7"/>
    <p:sldId id="260" r:id="rId8"/>
    <p:sldId id="277" r:id="rId9"/>
    <p:sldId id="273" r:id="rId10"/>
    <p:sldId id="262" r:id="rId11"/>
    <p:sldId id="263" r:id="rId12"/>
    <p:sldId id="264" r:id="rId13"/>
    <p:sldId id="278" r:id="rId14"/>
    <p:sldId id="274" r:id="rId15"/>
    <p:sldId id="265" r:id="rId16"/>
    <p:sldId id="279" r:id="rId17"/>
    <p:sldId id="275" r:id="rId18"/>
    <p:sldId id="266" r:id="rId19"/>
    <p:sldId id="267" r:id="rId20"/>
    <p:sldId id="268" r:id="rId21"/>
    <p:sldId id="280" r:id="rId22"/>
    <p:sldId id="276" r:id="rId23"/>
    <p:sldId id="269" r:id="rId24"/>
    <p:sldId id="270" r:id="rId25"/>
    <p:sldId id="271" r:id="rId26"/>
    <p:sldId id="281" r:id="rId27"/>
    <p:sldId id="283" r:id="rId28"/>
    <p:sldId id="28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8" d="100"/>
          <a:sy n="38" d="100"/>
        </p:scale>
        <p:origin x="105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1D85B-9B7A-4BBA-8EDA-CC5EAB26D3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F967DF-703C-456B-94D8-0F12A1EA6B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4F9AF4-6D22-47D1-AA9D-1BDCAF3A1CA1}"/>
              </a:ext>
            </a:extLst>
          </p:cNvPr>
          <p:cNvSpPr>
            <a:spLocks noGrp="1"/>
          </p:cNvSpPr>
          <p:nvPr>
            <p:ph type="dt" sz="half" idx="10"/>
          </p:nvPr>
        </p:nvSpPr>
        <p:spPr/>
        <p:txBody>
          <a:bodyPr/>
          <a:lstStyle/>
          <a:p>
            <a:fld id="{0FCA0418-6750-4D90-99DB-1EE349A73FED}" type="datetimeFigureOut">
              <a:rPr lang="en-US" smtClean="0"/>
              <a:t>10/10/2021</a:t>
            </a:fld>
            <a:endParaRPr lang="en-US"/>
          </a:p>
        </p:txBody>
      </p:sp>
      <p:sp>
        <p:nvSpPr>
          <p:cNvPr id="5" name="Footer Placeholder 4">
            <a:extLst>
              <a:ext uri="{FF2B5EF4-FFF2-40B4-BE49-F238E27FC236}">
                <a16:creationId xmlns:a16="http://schemas.microsoft.com/office/drawing/2014/main" id="{2E55943C-45A4-47DD-89E8-BA4C4CC222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253CAD-02CB-4B61-A6D1-B3FC1B3A7DFC}"/>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927714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F0466-89CC-4F78-AF42-A805BF0044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44B771-8FB2-42A3-BCED-F5B66DBFBC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8976EC-2D44-4B78-96FE-B5CBF0136B48}"/>
              </a:ext>
            </a:extLst>
          </p:cNvPr>
          <p:cNvSpPr>
            <a:spLocks noGrp="1"/>
          </p:cNvSpPr>
          <p:nvPr>
            <p:ph type="dt" sz="half" idx="10"/>
          </p:nvPr>
        </p:nvSpPr>
        <p:spPr/>
        <p:txBody>
          <a:bodyPr/>
          <a:lstStyle/>
          <a:p>
            <a:fld id="{0FCA0418-6750-4D90-99DB-1EE349A73FED}" type="datetimeFigureOut">
              <a:rPr lang="en-US" smtClean="0"/>
              <a:t>10/10/2021</a:t>
            </a:fld>
            <a:endParaRPr lang="en-US"/>
          </a:p>
        </p:txBody>
      </p:sp>
      <p:sp>
        <p:nvSpPr>
          <p:cNvPr id="5" name="Footer Placeholder 4">
            <a:extLst>
              <a:ext uri="{FF2B5EF4-FFF2-40B4-BE49-F238E27FC236}">
                <a16:creationId xmlns:a16="http://schemas.microsoft.com/office/drawing/2014/main" id="{7D5417E1-CEDA-4499-ADF3-930C5C1E4A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DCDBE9-19B6-40B6-97A2-21E389E2E552}"/>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277389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1A238-311E-43AE-B835-0EAB161160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B0BE021-CEDF-43BF-AF7E-74B7C3FF93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C60325-1AB3-47FB-9171-92987A49C489}"/>
              </a:ext>
            </a:extLst>
          </p:cNvPr>
          <p:cNvSpPr>
            <a:spLocks noGrp="1"/>
          </p:cNvSpPr>
          <p:nvPr>
            <p:ph type="dt" sz="half" idx="10"/>
          </p:nvPr>
        </p:nvSpPr>
        <p:spPr/>
        <p:txBody>
          <a:bodyPr/>
          <a:lstStyle/>
          <a:p>
            <a:fld id="{0FCA0418-6750-4D90-99DB-1EE349A73FED}" type="datetimeFigureOut">
              <a:rPr lang="en-US" smtClean="0"/>
              <a:t>10/10/2021</a:t>
            </a:fld>
            <a:endParaRPr lang="en-US"/>
          </a:p>
        </p:txBody>
      </p:sp>
      <p:sp>
        <p:nvSpPr>
          <p:cNvPr id="5" name="Footer Placeholder 4">
            <a:extLst>
              <a:ext uri="{FF2B5EF4-FFF2-40B4-BE49-F238E27FC236}">
                <a16:creationId xmlns:a16="http://schemas.microsoft.com/office/drawing/2014/main" id="{58305607-71AF-4D0C-BB5C-00FB64F8CB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94B1E2-50C9-48D3-8B53-07602744E98D}"/>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3509177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B2C72-325A-4560-A161-AE4A3CB121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0CAA4C-A160-4450-8010-429D8BA74F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1495067-6656-43C7-AAC1-28617FC0D7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A0DDA6-C17B-40D1-A23B-2707C384C0F4}"/>
              </a:ext>
            </a:extLst>
          </p:cNvPr>
          <p:cNvSpPr>
            <a:spLocks noGrp="1"/>
          </p:cNvSpPr>
          <p:nvPr>
            <p:ph type="dt" sz="half" idx="10"/>
          </p:nvPr>
        </p:nvSpPr>
        <p:spPr/>
        <p:txBody>
          <a:bodyPr/>
          <a:lstStyle/>
          <a:p>
            <a:fld id="{0FCA0418-6750-4D90-99DB-1EE349A73FED}" type="datetimeFigureOut">
              <a:rPr lang="en-US" smtClean="0"/>
              <a:t>10/10/2021</a:t>
            </a:fld>
            <a:endParaRPr lang="en-US"/>
          </a:p>
        </p:txBody>
      </p:sp>
      <p:sp>
        <p:nvSpPr>
          <p:cNvPr id="6" name="Footer Placeholder 5">
            <a:extLst>
              <a:ext uri="{FF2B5EF4-FFF2-40B4-BE49-F238E27FC236}">
                <a16:creationId xmlns:a16="http://schemas.microsoft.com/office/drawing/2014/main" id="{417F2405-7152-4356-B5B2-8E04EAFD08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E8C689-A9F0-4739-89C7-8E18B2891AA2}"/>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205553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A4D94-81A1-4D76-AF57-0085138C0A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5B4380C-7D2B-4CC5-AE4F-57996C874D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C04330-DA38-487C-B7DC-4613584359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678727-0C14-4A11-BB79-0B85B01D17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3601D4-7791-436E-B2C7-6A5756EA31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9B534C-6703-4B67-9287-37A928C5DDF1}"/>
              </a:ext>
            </a:extLst>
          </p:cNvPr>
          <p:cNvSpPr>
            <a:spLocks noGrp="1"/>
          </p:cNvSpPr>
          <p:nvPr>
            <p:ph type="dt" sz="half" idx="10"/>
          </p:nvPr>
        </p:nvSpPr>
        <p:spPr/>
        <p:txBody>
          <a:bodyPr/>
          <a:lstStyle/>
          <a:p>
            <a:fld id="{0FCA0418-6750-4D90-99DB-1EE349A73FED}" type="datetimeFigureOut">
              <a:rPr lang="en-US" smtClean="0"/>
              <a:t>10/10/2021</a:t>
            </a:fld>
            <a:endParaRPr lang="en-US"/>
          </a:p>
        </p:txBody>
      </p:sp>
      <p:sp>
        <p:nvSpPr>
          <p:cNvPr id="8" name="Footer Placeholder 7">
            <a:extLst>
              <a:ext uri="{FF2B5EF4-FFF2-40B4-BE49-F238E27FC236}">
                <a16:creationId xmlns:a16="http://schemas.microsoft.com/office/drawing/2014/main" id="{608BABDA-2E23-46DD-AB79-1E2ECA1565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05E83A-6595-4729-9B3D-7428AAD5A65D}"/>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3165892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53E45-65EA-4FA8-A6C6-0E83A58072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FDA90B-F3E2-426F-897E-6790EC1B90C6}"/>
              </a:ext>
            </a:extLst>
          </p:cNvPr>
          <p:cNvSpPr>
            <a:spLocks noGrp="1"/>
          </p:cNvSpPr>
          <p:nvPr>
            <p:ph type="dt" sz="half" idx="10"/>
          </p:nvPr>
        </p:nvSpPr>
        <p:spPr/>
        <p:txBody>
          <a:bodyPr/>
          <a:lstStyle/>
          <a:p>
            <a:fld id="{0FCA0418-6750-4D90-99DB-1EE349A73FED}" type="datetimeFigureOut">
              <a:rPr lang="en-US" smtClean="0"/>
              <a:t>10/10/2021</a:t>
            </a:fld>
            <a:endParaRPr lang="en-US"/>
          </a:p>
        </p:txBody>
      </p:sp>
      <p:sp>
        <p:nvSpPr>
          <p:cNvPr id="4" name="Footer Placeholder 3">
            <a:extLst>
              <a:ext uri="{FF2B5EF4-FFF2-40B4-BE49-F238E27FC236}">
                <a16:creationId xmlns:a16="http://schemas.microsoft.com/office/drawing/2014/main" id="{376625BA-CCA3-4282-9EF8-10543BF17C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A3FF68-04AB-4C15-9826-67CD87B4D43E}"/>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2506229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C9F08C-66A0-49E4-97BC-B39B81B6EA98}"/>
              </a:ext>
            </a:extLst>
          </p:cNvPr>
          <p:cNvSpPr>
            <a:spLocks noGrp="1"/>
          </p:cNvSpPr>
          <p:nvPr>
            <p:ph type="dt" sz="half" idx="10"/>
          </p:nvPr>
        </p:nvSpPr>
        <p:spPr/>
        <p:txBody>
          <a:bodyPr/>
          <a:lstStyle/>
          <a:p>
            <a:fld id="{0FCA0418-6750-4D90-99DB-1EE349A73FED}" type="datetimeFigureOut">
              <a:rPr lang="en-US" smtClean="0"/>
              <a:t>10/10/2021</a:t>
            </a:fld>
            <a:endParaRPr lang="en-US"/>
          </a:p>
        </p:txBody>
      </p:sp>
      <p:sp>
        <p:nvSpPr>
          <p:cNvPr id="3" name="Footer Placeholder 2">
            <a:extLst>
              <a:ext uri="{FF2B5EF4-FFF2-40B4-BE49-F238E27FC236}">
                <a16:creationId xmlns:a16="http://schemas.microsoft.com/office/drawing/2014/main" id="{90B1E579-2858-4214-A3A0-D90EE08BB0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DF0BCA-20B3-4533-89F4-62934FAC1089}"/>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2246875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5F20F-AA1F-446C-9EB3-4B5C510B28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604016E-43FA-4D61-82A0-0CDBC60C4A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597784-FC7B-49CB-B996-1973E10EF1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F363A4-5A51-4358-A076-006EA14EAD1F}"/>
              </a:ext>
            </a:extLst>
          </p:cNvPr>
          <p:cNvSpPr>
            <a:spLocks noGrp="1"/>
          </p:cNvSpPr>
          <p:nvPr>
            <p:ph type="dt" sz="half" idx="10"/>
          </p:nvPr>
        </p:nvSpPr>
        <p:spPr/>
        <p:txBody>
          <a:bodyPr/>
          <a:lstStyle/>
          <a:p>
            <a:fld id="{0FCA0418-6750-4D90-99DB-1EE349A73FED}" type="datetimeFigureOut">
              <a:rPr lang="en-US" smtClean="0"/>
              <a:t>10/10/2021</a:t>
            </a:fld>
            <a:endParaRPr lang="en-US"/>
          </a:p>
        </p:txBody>
      </p:sp>
      <p:sp>
        <p:nvSpPr>
          <p:cNvPr id="6" name="Footer Placeholder 5">
            <a:extLst>
              <a:ext uri="{FF2B5EF4-FFF2-40B4-BE49-F238E27FC236}">
                <a16:creationId xmlns:a16="http://schemas.microsoft.com/office/drawing/2014/main" id="{A3D418F1-B562-4E69-BF7A-6CCBDF3140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B64C15-DCDE-4E25-A77F-FAB59F704CEF}"/>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476064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DAC6F-DE6C-4FBB-8273-495D466E28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60A004-DF2D-4F1D-B029-163BA581A2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F9FB62-23AB-422E-8338-BCA5189C93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C1B0AD-19B1-46D2-A805-93E0DACDDB22}"/>
              </a:ext>
            </a:extLst>
          </p:cNvPr>
          <p:cNvSpPr>
            <a:spLocks noGrp="1"/>
          </p:cNvSpPr>
          <p:nvPr>
            <p:ph type="dt" sz="half" idx="10"/>
          </p:nvPr>
        </p:nvSpPr>
        <p:spPr/>
        <p:txBody>
          <a:bodyPr/>
          <a:lstStyle/>
          <a:p>
            <a:fld id="{0FCA0418-6750-4D90-99DB-1EE349A73FED}" type="datetimeFigureOut">
              <a:rPr lang="en-US" smtClean="0"/>
              <a:t>10/10/2021</a:t>
            </a:fld>
            <a:endParaRPr lang="en-US"/>
          </a:p>
        </p:txBody>
      </p:sp>
      <p:sp>
        <p:nvSpPr>
          <p:cNvPr id="6" name="Footer Placeholder 5">
            <a:extLst>
              <a:ext uri="{FF2B5EF4-FFF2-40B4-BE49-F238E27FC236}">
                <a16:creationId xmlns:a16="http://schemas.microsoft.com/office/drawing/2014/main" id="{CD526113-A543-4F7E-AED9-DE985BCDC5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7E9A0F-F56C-42DD-B105-98612517A216}"/>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881969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E67BF-9422-4033-90B7-3DCD22A163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86E632-D818-4BE0-B3F0-BF17691107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BF65C5-4A19-49E7-BDE7-339487DECEB8}"/>
              </a:ext>
            </a:extLst>
          </p:cNvPr>
          <p:cNvSpPr>
            <a:spLocks noGrp="1"/>
          </p:cNvSpPr>
          <p:nvPr>
            <p:ph type="dt" sz="half" idx="10"/>
          </p:nvPr>
        </p:nvSpPr>
        <p:spPr/>
        <p:txBody>
          <a:bodyPr/>
          <a:lstStyle/>
          <a:p>
            <a:fld id="{0FCA0418-6750-4D90-99DB-1EE349A73FED}" type="datetimeFigureOut">
              <a:rPr lang="en-US" smtClean="0"/>
              <a:t>10/10/2021</a:t>
            </a:fld>
            <a:endParaRPr lang="en-US"/>
          </a:p>
        </p:txBody>
      </p:sp>
      <p:sp>
        <p:nvSpPr>
          <p:cNvPr id="5" name="Footer Placeholder 4">
            <a:extLst>
              <a:ext uri="{FF2B5EF4-FFF2-40B4-BE49-F238E27FC236}">
                <a16:creationId xmlns:a16="http://schemas.microsoft.com/office/drawing/2014/main" id="{9BFDC738-634B-4490-8536-DFFA786B93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0A3A8C-D3AD-4573-94CD-A74B0BDA69E6}"/>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4159291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27A089-E250-4043-8CD6-410CC66BB0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B0F36A-BF70-491A-8FD9-ADD8A37EBE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6D812E-2422-4DE0-B548-CB6FAD1EBF2F}"/>
              </a:ext>
            </a:extLst>
          </p:cNvPr>
          <p:cNvSpPr>
            <a:spLocks noGrp="1"/>
          </p:cNvSpPr>
          <p:nvPr>
            <p:ph type="dt" sz="half" idx="10"/>
          </p:nvPr>
        </p:nvSpPr>
        <p:spPr/>
        <p:txBody>
          <a:bodyPr/>
          <a:lstStyle/>
          <a:p>
            <a:fld id="{0FCA0418-6750-4D90-99DB-1EE349A73FED}" type="datetimeFigureOut">
              <a:rPr lang="en-US" smtClean="0"/>
              <a:t>10/10/2021</a:t>
            </a:fld>
            <a:endParaRPr lang="en-US"/>
          </a:p>
        </p:txBody>
      </p:sp>
      <p:sp>
        <p:nvSpPr>
          <p:cNvPr id="5" name="Footer Placeholder 4">
            <a:extLst>
              <a:ext uri="{FF2B5EF4-FFF2-40B4-BE49-F238E27FC236}">
                <a16:creationId xmlns:a16="http://schemas.microsoft.com/office/drawing/2014/main" id="{B5C7C8A9-2891-412B-808E-29E0A116C0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C2F4DD-3B4A-45A8-BABD-1CEAD74969C9}"/>
              </a:ext>
            </a:extLst>
          </p:cNvPr>
          <p:cNvSpPr>
            <a:spLocks noGrp="1"/>
          </p:cNvSpPr>
          <p:nvPr>
            <p:ph type="sldNum" sz="quarter" idx="12"/>
          </p:nvPr>
        </p:nvSpPr>
        <p:spPr/>
        <p:txBody>
          <a:bodyPr/>
          <a:lstStyle/>
          <a:p>
            <a:fld id="{AE34B12E-1DDA-4119-8863-6545FC31DCEC}" type="slidenum">
              <a:rPr lang="en-US" smtClean="0"/>
              <a:t>‹#›</a:t>
            </a:fld>
            <a:endParaRPr lang="en-US"/>
          </a:p>
        </p:txBody>
      </p:sp>
    </p:spTree>
    <p:extLst>
      <p:ext uri="{BB962C8B-B14F-4D97-AF65-F5344CB8AC3E}">
        <p14:creationId xmlns:p14="http://schemas.microsoft.com/office/powerpoint/2010/main" val="2527765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D8CDCF-14E3-4339-9AA2-EBAE416BC7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CD3D8A9-203F-4CD7-85A2-B7BD7BF4A2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61C3A6-FE9E-475F-865D-59680E9865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CA0418-6750-4D90-99DB-1EE349A73FED}" type="datetimeFigureOut">
              <a:rPr lang="en-US" smtClean="0"/>
              <a:t>10/10/2021</a:t>
            </a:fld>
            <a:endParaRPr lang="en-US"/>
          </a:p>
        </p:txBody>
      </p:sp>
      <p:sp>
        <p:nvSpPr>
          <p:cNvPr id="5" name="Footer Placeholder 4">
            <a:extLst>
              <a:ext uri="{FF2B5EF4-FFF2-40B4-BE49-F238E27FC236}">
                <a16:creationId xmlns:a16="http://schemas.microsoft.com/office/drawing/2014/main" id="{538FB405-F47E-4557-A157-A700B161CD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2ACB1DF-BF89-47FF-96D8-643D5F08A6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34B12E-1DDA-4119-8863-6545FC31DCEC}" type="slidenum">
              <a:rPr lang="en-US" smtClean="0"/>
              <a:t>‹#›</a:t>
            </a:fld>
            <a:endParaRPr lang="en-US"/>
          </a:p>
        </p:txBody>
      </p:sp>
    </p:spTree>
    <p:extLst>
      <p:ext uri="{BB962C8B-B14F-4D97-AF65-F5344CB8AC3E}">
        <p14:creationId xmlns:p14="http://schemas.microsoft.com/office/powerpoint/2010/main" val="3910851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Excel_Macro-Enabled_Worksheet.xlsm"/><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Excel_Macro-Enabled_Worksheet1.xlsm"/><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8.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F967A-9F24-49C5-8ADE-8AB32A487F0B}"/>
              </a:ext>
            </a:extLst>
          </p:cNvPr>
          <p:cNvSpPr>
            <a:spLocks noGrp="1"/>
          </p:cNvSpPr>
          <p:nvPr>
            <p:ph type="ctrTitle"/>
          </p:nvPr>
        </p:nvSpPr>
        <p:spPr/>
        <p:txBody>
          <a:bodyPr>
            <a:normAutofit/>
          </a:bodyPr>
          <a:lstStyle/>
          <a:p>
            <a:r>
              <a:rPr lang="en-US" b="0" i="0" dirty="0">
                <a:solidFill>
                  <a:srgbClr val="666666"/>
                </a:solidFill>
                <a:effectLst/>
                <a:latin typeface="Lato Extended"/>
              </a:rPr>
              <a:t>Customer Segmentation</a:t>
            </a:r>
            <a:br>
              <a:rPr lang="en-US" b="0" i="0" dirty="0">
                <a:solidFill>
                  <a:srgbClr val="666666"/>
                </a:solidFill>
                <a:effectLst/>
                <a:latin typeface="Lato Extended"/>
              </a:rPr>
            </a:br>
            <a:r>
              <a:rPr lang="en-US" b="0" i="0">
                <a:solidFill>
                  <a:srgbClr val="666666"/>
                </a:solidFill>
                <a:effectLst/>
                <a:latin typeface="Lato Extended"/>
              </a:rPr>
              <a:t>Week 12 </a:t>
            </a:r>
            <a:r>
              <a:rPr lang="en-US" b="0" i="0" dirty="0">
                <a:solidFill>
                  <a:srgbClr val="666666"/>
                </a:solidFill>
                <a:effectLst/>
                <a:latin typeface="Lato Extended"/>
              </a:rPr>
              <a:t>project</a:t>
            </a:r>
            <a:endParaRPr lang="en-US" dirty="0"/>
          </a:p>
        </p:txBody>
      </p:sp>
      <p:sp>
        <p:nvSpPr>
          <p:cNvPr id="3" name="Subtitle 2">
            <a:extLst>
              <a:ext uri="{FF2B5EF4-FFF2-40B4-BE49-F238E27FC236}">
                <a16:creationId xmlns:a16="http://schemas.microsoft.com/office/drawing/2014/main" id="{E65487DB-6E05-4682-BDA6-4C4C026B66D0}"/>
              </a:ext>
            </a:extLst>
          </p:cNvPr>
          <p:cNvSpPr>
            <a:spLocks noGrp="1"/>
          </p:cNvSpPr>
          <p:nvPr>
            <p:ph type="subTitle" idx="1"/>
          </p:nvPr>
        </p:nvSpPr>
        <p:spPr/>
        <p:txBody>
          <a:bodyPr/>
          <a:lstStyle/>
          <a:p>
            <a:r>
              <a:rPr lang="en-US" dirty="0"/>
              <a:t>Abdullah </a:t>
            </a:r>
            <a:r>
              <a:rPr lang="en-US" dirty="0" err="1"/>
              <a:t>kasri</a:t>
            </a:r>
            <a:endParaRPr lang="en-US" dirty="0"/>
          </a:p>
          <a:p>
            <a:r>
              <a:rPr lang="en-US" dirty="0"/>
              <a:t>Data science intern</a:t>
            </a:r>
          </a:p>
          <a:p>
            <a:r>
              <a:rPr lang="en-US" dirty="0"/>
              <a:t>Abdullah00kasri@gmail.com</a:t>
            </a:r>
          </a:p>
        </p:txBody>
      </p:sp>
    </p:spTree>
    <p:extLst>
      <p:ext uri="{BB962C8B-B14F-4D97-AF65-F5344CB8AC3E}">
        <p14:creationId xmlns:p14="http://schemas.microsoft.com/office/powerpoint/2010/main" val="503057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B84D3-DB56-424A-BACB-CFF75E4BE5C8}"/>
              </a:ext>
            </a:extLst>
          </p:cNvPr>
          <p:cNvSpPr>
            <a:spLocks noGrp="1"/>
          </p:cNvSpPr>
          <p:nvPr>
            <p:ph type="title"/>
          </p:nvPr>
        </p:nvSpPr>
        <p:spPr/>
        <p:txBody>
          <a:bodyPr/>
          <a:lstStyle/>
          <a:p>
            <a:r>
              <a:rPr lang="en-US" dirty="0"/>
              <a:t>I’ve decided to split and analyze the </a:t>
            </a:r>
          </a:p>
        </p:txBody>
      </p:sp>
      <p:sp>
        <p:nvSpPr>
          <p:cNvPr id="3" name="Content Placeholder 2">
            <a:extLst>
              <a:ext uri="{FF2B5EF4-FFF2-40B4-BE49-F238E27FC236}">
                <a16:creationId xmlns:a16="http://schemas.microsoft.com/office/drawing/2014/main" id="{5FFAE5F3-F754-4041-B8DD-1E9F9CAEE64A}"/>
              </a:ext>
            </a:extLst>
          </p:cNvPr>
          <p:cNvSpPr>
            <a:spLocks noGrp="1"/>
          </p:cNvSpPr>
          <p:nvPr>
            <p:ph idx="1"/>
          </p:nvPr>
        </p:nvSpPr>
        <p:spPr/>
        <p:txBody>
          <a:bodyPr/>
          <a:lstStyle/>
          <a:p>
            <a:r>
              <a:rPr lang="en-US" dirty="0"/>
              <a:t>I’ve decided to split and analyze the dataset given into five main groups in order to help the bank make better offerings to their customers.</a:t>
            </a:r>
          </a:p>
          <a:p>
            <a:r>
              <a:rPr lang="en-US" dirty="0"/>
              <a:t>Those groups are; Customer activity, customers’ relationship with the bank, type of customers, Gender-based-decisions among customers &amp; newly joined customers.</a:t>
            </a:r>
          </a:p>
          <a:p>
            <a:r>
              <a:rPr lang="en-US" dirty="0"/>
              <a:t>By using these groups, I'm optimistic about clarifying the patterns.</a:t>
            </a:r>
          </a:p>
        </p:txBody>
      </p:sp>
    </p:spTree>
    <p:extLst>
      <p:ext uri="{BB962C8B-B14F-4D97-AF65-F5344CB8AC3E}">
        <p14:creationId xmlns:p14="http://schemas.microsoft.com/office/powerpoint/2010/main" val="456848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7B987-6448-4C07-A853-4F3F9BC36367}"/>
              </a:ext>
            </a:extLst>
          </p:cNvPr>
          <p:cNvSpPr>
            <a:spLocks noGrp="1"/>
          </p:cNvSpPr>
          <p:nvPr>
            <p:ph type="title"/>
          </p:nvPr>
        </p:nvSpPr>
        <p:spPr>
          <a:xfrm>
            <a:off x="0" y="1"/>
            <a:ext cx="12192000" cy="828674"/>
          </a:xfrm>
        </p:spPr>
        <p:txBody>
          <a:bodyPr/>
          <a:lstStyle/>
          <a:p>
            <a:pPr algn="ctr"/>
            <a:r>
              <a:rPr lang="en-US" dirty="0"/>
              <a:t>But first,</a:t>
            </a:r>
          </a:p>
        </p:txBody>
      </p:sp>
      <p:sp>
        <p:nvSpPr>
          <p:cNvPr id="3" name="Content Placeholder 2">
            <a:extLst>
              <a:ext uri="{FF2B5EF4-FFF2-40B4-BE49-F238E27FC236}">
                <a16:creationId xmlns:a16="http://schemas.microsoft.com/office/drawing/2014/main" id="{3159DAB5-AA8F-48F0-83A0-50EEF432B361}"/>
              </a:ext>
            </a:extLst>
          </p:cNvPr>
          <p:cNvSpPr>
            <a:spLocks noGrp="1"/>
          </p:cNvSpPr>
          <p:nvPr>
            <p:ph idx="1"/>
          </p:nvPr>
        </p:nvSpPr>
        <p:spPr>
          <a:xfrm>
            <a:off x="0" y="828674"/>
            <a:ext cx="12192000" cy="6029325"/>
          </a:xfrm>
        </p:spPr>
        <p:txBody>
          <a:bodyPr>
            <a:normAutofit/>
          </a:bodyPr>
          <a:lstStyle/>
          <a:p>
            <a:pPr marL="0" indent="0" algn="ctr">
              <a:buNone/>
            </a:pPr>
            <a:r>
              <a:rPr lang="en-US" sz="6600" dirty="0"/>
              <a:t>Let me show you all the technical and statistical points and then explain what they exactly mean…</a:t>
            </a:r>
          </a:p>
        </p:txBody>
      </p:sp>
    </p:spTree>
    <p:extLst>
      <p:ext uri="{BB962C8B-B14F-4D97-AF65-F5344CB8AC3E}">
        <p14:creationId xmlns:p14="http://schemas.microsoft.com/office/powerpoint/2010/main" val="3691606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8383B-28DC-4EB3-A7CB-D327F773971C}"/>
              </a:ext>
            </a:extLst>
          </p:cNvPr>
          <p:cNvSpPr>
            <a:spLocks noGrp="1"/>
          </p:cNvSpPr>
          <p:nvPr>
            <p:ph type="title"/>
          </p:nvPr>
        </p:nvSpPr>
        <p:spPr>
          <a:xfrm>
            <a:off x="0" y="1"/>
            <a:ext cx="12192000" cy="6858000"/>
          </a:xfrm>
        </p:spPr>
        <p:txBody>
          <a:bodyPr>
            <a:normAutofit/>
          </a:bodyPr>
          <a:lstStyle/>
          <a:p>
            <a:pPr algn="ctr"/>
            <a:r>
              <a:rPr lang="en-US" sz="13800" dirty="0"/>
              <a:t>Activity index</a:t>
            </a:r>
          </a:p>
        </p:txBody>
      </p:sp>
    </p:spTree>
    <p:extLst>
      <p:ext uri="{BB962C8B-B14F-4D97-AF65-F5344CB8AC3E}">
        <p14:creationId xmlns:p14="http://schemas.microsoft.com/office/powerpoint/2010/main" val="697096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16128-971A-4B95-84E2-70DAC09F5798}"/>
              </a:ext>
            </a:extLst>
          </p:cNvPr>
          <p:cNvSpPr>
            <a:spLocks noGrp="1"/>
          </p:cNvSpPr>
          <p:nvPr>
            <p:ph type="title"/>
          </p:nvPr>
        </p:nvSpPr>
        <p:spPr>
          <a:xfrm>
            <a:off x="0" y="1"/>
            <a:ext cx="12192000" cy="681036"/>
          </a:xfrm>
        </p:spPr>
        <p:txBody>
          <a:bodyPr>
            <a:normAutofit fontScale="90000"/>
          </a:bodyPr>
          <a:lstStyle/>
          <a:p>
            <a:pPr algn="ctr"/>
            <a:r>
              <a:rPr lang="en-US" dirty="0"/>
              <a:t>ROC curve shows a modest effect</a:t>
            </a:r>
          </a:p>
        </p:txBody>
      </p:sp>
      <p:pic>
        <p:nvPicPr>
          <p:cNvPr id="5" name="Content Placeholder 4">
            <a:extLst>
              <a:ext uri="{FF2B5EF4-FFF2-40B4-BE49-F238E27FC236}">
                <a16:creationId xmlns:a16="http://schemas.microsoft.com/office/drawing/2014/main" id="{1DFE1FA7-AD8E-4D3C-BC3E-C1AE86345C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681037"/>
            <a:ext cx="12192000" cy="6176963"/>
          </a:xfrm>
        </p:spPr>
      </p:pic>
    </p:spTree>
    <p:extLst>
      <p:ext uri="{BB962C8B-B14F-4D97-AF65-F5344CB8AC3E}">
        <p14:creationId xmlns:p14="http://schemas.microsoft.com/office/powerpoint/2010/main" val="3423159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37E93-17EB-44E6-AC46-5625B364CCE4}"/>
              </a:ext>
            </a:extLst>
          </p:cNvPr>
          <p:cNvSpPr>
            <a:spLocks noGrp="1"/>
          </p:cNvSpPr>
          <p:nvPr>
            <p:ph type="title"/>
          </p:nvPr>
        </p:nvSpPr>
        <p:spPr>
          <a:xfrm>
            <a:off x="114300" y="1"/>
            <a:ext cx="12077700" cy="681036"/>
          </a:xfrm>
        </p:spPr>
        <p:txBody>
          <a:bodyPr>
            <a:normAutofit fontScale="90000"/>
          </a:bodyPr>
          <a:lstStyle/>
          <a:p>
            <a:pPr algn="ctr"/>
            <a:r>
              <a:rPr lang="en-US" dirty="0"/>
              <a:t>Recall also is telling us something similar about the effect</a:t>
            </a:r>
          </a:p>
        </p:txBody>
      </p:sp>
      <p:pic>
        <p:nvPicPr>
          <p:cNvPr id="5" name="Content Placeholder 4">
            <a:extLst>
              <a:ext uri="{FF2B5EF4-FFF2-40B4-BE49-F238E27FC236}">
                <a16:creationId xmlns:a16="http://schemas.microsoft.com/office/drawing/2014/main" id="{15DF9C1B-77B3-43B7-A039-2892710761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681037"/>
            <a:ext cx="12077700" cy="6176963"/>
          </a:xfrm>
        </p:spPr>
      </p:pic>
    </p:spTree>
    <p:extLst>
      <p:ext uri="{BB962C8B-B14F-4D97-AF65-F5344CB8AC3E}">
        <p14:creationId xmlns:p14="http://schemas.microsoft.com/office/powerpoint/2010/main" val="1129127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E0B15-E4DF-460E-A950-25D2030C0F5A}"/>
              </a:ext>
            </a:extLst>
          </p:cNvPr>
          <p:cNvSpPr>
            <a:spLocks noGrp="1"/>
          </p:cNvSpPr>
          <p:nvPr>
            <p:ph type="title"/>
          </p:nvPr>
        </p:nvSpPr>
        <p:spPr>
          <a:xfrm>
            <a:off x="838200" y="1"/>
            <a:ext cx="10515600" cy="785812"/>
          </a:xfrm>
        </p:spPr>
        <p:txBody>
          <a:bodyPr/>
          <a:lstStyle/>
          <a:p>
            <a:pPr algn="ctr"/>
            <a:r>
              <a:rPr lang="en-US" dirty="0"/>
              <a:t>Confusion Matrix</a:t>
            </a:r>
          </a:p>
        </p:txBody>
      </p:sp>
      <p:pic>
        <p:nvPicPr>
          <p:cNvPr id="5" name="Content Placeholder 4">
            <a:extLst>
              <a:ext uri="{FF2B5EF4-FFF2-40B4-BE49-F238E27FC236}">
                <a16:creationId xmlns:a16="http://schemas.microsoft.com/office/drawing/2014/main" id="{C5374831-01F9-40F2-B62C-382A7A1CDD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785813"/>
            <a:ext cx="12191999" cy="6072186"/>
          </a:xfrm>
        </p:spPr>
      </p:pic>
    </p:spTree>
    <p:extLst>
      <p:ext uri="{BB962C8B-B14F-4D97-AF65-F5344CB8AC3E}">
        <p14:creationId xmlns:p14="http://schemas.microsoft.com/office/powerpoint/2010/main" val="287179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A7A86-0C79-46C4-82CD-DA282FC5C47C}"/>
              </a:ext>
            </a:extLst>
          </p:cNvPr>
          <p:cNvSpPr>
            <a:spLocks noGrp="1"/>
          </p:cNvSpPr>
          <p:nvPr>
            <p:ph type="title"/>
          </p:nvPr>
        </p:nvSpPr>
        <p:spPr>
          <a:xfrm>
            <a:off x="0" y="1"/>
            <a:ext cx="12191998" cy="3429000"/>
          </a:xfrm>
        </p:spPr>
        <p:txBody>
          <a:bodyPr/>
          <a:lstStyle/>
          <a:p>
            <a:pPr algn="ctr"/>
            <a:r>
              <a:rPr lang="en-US" dirty="0"/>
              <a:t>We can summarize this section by concluding that the activity level of customers typically increases as does their age. But it showed little to no effect whether the customers were female or male </a:t>
            </a:r>
          </a:p>
        </p:txBody>
      </p:sp>
      <p:graphicFrame>
        <p:nvGraphicFramePr>
          <p:cNvPr id="6" name="Object 5">
            <a:extLst>
              <a:ext uri="{FF2B5EF4-FFF2-40B4-BE49-F238E27FC236}">
                <a16:creationId xmlns:a16="http://schemas.microsoft.com/office/drawing/2014/main" id="{D8B8DE2F-B2F7-4D45-9EDE-8B50E4BA3080}"/>
              </a:ext>
            </a:extLst>
          </p:cNvPr>
          <p:cNvGraphicFramePr>
            <a:graphicFrameLocks noChangeAspect="1"/>
          </p:cNvGraphicFramePr>
          <p:nvPr>
            <p:extLst>
              <p:ext uri="{D42A27DB-BD31-4B8C-83A1-F6EECF244321}">
                <p14:modId xmlns:p14="http://schemas.microsoft.com/office/powerpoint/2010/main" val="1646364088"/>
              </p:ext>
            </p:extLst>
          </p:nvPr>
        </p:nvGraphicFramePr>
        <p:xfrm>
          <a:off x="0" y="3429000"/>
          <a:ext cx="12191999" cy="3429000"/>
        </p:xfrm>
        <a:graphic>
          <a:graphicData uri="http://schemas.openxmlformats.org/presentationml/2006/ole">
            <mc:AlternateContent xmlns:mc="http://schemas.openxmlformats.org/markup-compatibility/2006">
              <mc:Choice xmlns:v="urn:schemas-microsoft-com:vml" Requires="v">
                <p:oleObj spid="_x0000_s1031" name="Macro-Enabled Worksheet" r:id="rId3" imgW="1838203" imgH="581047" progId="Excel.SheetMacroEnabled.12">
                  <p:embed/>
                </p:oleObj>
              </mc:Choice>
              <mc:Fallback>
                <p:oleObj name="Macro-Enabled Worksheet" r:id="rId3" imgW="1838203" imgH="581047" progId="Excel.SheetMacroEnabled.12">
                  <p:embed/>
                  <p:pic>
                    <p:nvPicPr>
                      <p:cNvPr id="0" name=""/>
                      <p:cNvPicPr/>
                      <p:nvPr/>
                    </p:nvPicPr>
                    <p:blipFill>
                      <a:blip r:embed="rId4"/>
                      <a:stretch>
                        <a:fillRect/>
                      </a:stretch>
                    </p:blipFill>
                    <p:spPr>
                      <a:xfrm>
                        <a:off x="0" y="3429000"/>
                        <a:ext cx="12191999" cy="3429000"/>
                      </a:xfrm>
                      <a:prstGeom prst="rect">
                        <a:avLst/>
                      </a:prstGeom>
                    </p:spPr>
                  </p:pic>
                </p:oleObj>
              </mc:Fallback>
            </mc:AlternateContent>
          </a:graphicData>
        </a:graphic>
      </p:graphicFrame>
    </p:spTree>
    <p:extLst>
      <p:ext uri="{BB962C8B-B14F-4D97-AF65-F5344CB8AC3E}">
        <p14:creationId xmlns:p14="http://schemas.microsoft.com/office/powerpoint/2010/main" val="3238031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8AF51-87B2-40E8-949D-3D416304BBAB}"/>
              </a:ext>
            </a:extLst>
          </p:cNvPr>
          <p:cNvSpPr>
            <a:spLocks noGrp="1"/>
          </p:cNvSpPr>
          <p:nvPr>
            <p:ph type="title"/>
          </p:nvPr>
        </p:nvSpPr>
        <p:spPr>
          <a:xfrm>
            <a:off x="0" y="1"/>
            <a:ext cx="12192000" cy="6858000"/>
          </a:xfrm>
        </p:spPr>
        <p:txBody>
          <a:bodyPr>
            <a:normAutofit/>
          </a:bodyPr>
          <a:lstStyle/>
          <a:p>
            <a:pPr algn="ctr"/>
            <a:r>
              <a:rPr lang="en-US" sz="13800" dirty="0"/>
              <a:t>Customers’ relationship with the bank</a:t>
            </a:r>
          </a:p>
        </p:txBody>
      </p:sp>
    </p:spTree>
    <p:extLst>
      <p:ext uri="{BB962C8B-B14F-4D97-AF65-F5344CB8AC3E}">
        <p14:creationId xmlns:p14="http://schemas.microsoft.com/office/powerpoint/2010/main" val="1988223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7C390-CEB7-42BF-B1F2-30C3A2673258}"/>
              </a:ext>
            </a:extLst>
          </p:cNvPr>
          <p:cNvSpPr>
            <a:spLocks noGrp="1"/>
          </p:cNvSpPr>
          <p:nvPr>
            <p:ph type="title"/>
          </p:nvPr>
        </p:nvSpPr>
        <p:spPr>
          <a:xfrm>
            <a:off x="0" y="1"/>
            <a:ext cx="12192000" cy="857249"/>
          </a:xfrm>
        </p:spPr>
        <p:txBody>
          <a:bodyPr/>
          <a:lstStyle/>
          <a:p>
            <a:pPr algn="ctr"/>
            <a:r>
              <a:rPr lang="en-US" dirty="0"/>
              <a:t>ROC curve</a:t>
            </a:r>
          </a:p>
        </p:txBody>
      </p:sp>
      <p:pic>
        <p:nvPicPr>
          <p:cNvPr id="5" name="Content Placeholder 4">
            <a:extLst>
              <a:ext uri="{FF2B5EF4-FFF2-40B4-BE49-F238E27FC236}">
                <a16:creationId xmlns:a16="http://schemas.microsoft.com/office/drawing/2014/main" id="{760C37FC-8FC3-4435-9848-80B09AC336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57250"/>
            <a:ext cx="12192000" cy="6000749"/>
          </a:xfrm>
        </p:spPr>
      </p:pic>
    </p:spTree>
    <p:extLst>
      <p:ext uri="{BB962C8B-B14F-4D97-AF65-F5344CB8AC3E}">
        <p14:creationId xmlns:p14="http://schemas.microsoft.com/office/powerpoint/2010/main" val="1928147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BE950-2B8F-47C0-AA3D-DBF8ABC295FB}"/>
              </a:ext>
            </a:extLst>
          </p:cNvPr>
          <p:cNvSpPr>
            <a:spLocks noGrp="1"/>
          </p:cNvSpPr>
          <p:nvPr>
            <p:ph type="title"/>
          </p:nvPr>
        </p:nvSpPr>
        <p:spPr>
          <a:xfrm>
            <a:off x="0" y="1"/>
            <a:ext cx="12192000" cy="742949"/>
          </a:xfrm>
        </p:spPr>
        <p:txBody>
          <a:bodyPr/>
          <a:lstStyle/>
          <a:p>
            <a:pPr algn="ctr"/>
            <a:r>
              <a:rPr lang="en-US" dirty="0"/>
              <a:t>Recall curve</a:t>
            </a:r>
          </a:p>
        </p:txBody>
      </p:sp>
      <p:pic>
        <p:nvPicPr>
          <p:cNvPr id="5" name="Content Placeholder 4">
            <a:extLst>
              <a:ext uri="{FF2B5EF4-FFF2-40B4-BE49-F238E27FC236}">
                <a16:creationId xmlns:a16="http://schemas.microsoft.com/office/drawing/2014/main" id="{8A5344CE-C37D-4312-A986-685D67B756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742950"/>
            <a:ext cx="12192000" cy="6115049"/>
          </a:xfrm>
        </p:spPr>
      </p:pic>
    </p:spTree>
    <p:extLst>
      <p:ext uri="{BB962C8B-B14F-4D97-AF65-F5344CB8AC3E}">
        <p14:creationId xmlns:p14="http://schemas.microsoft.com/office/powerpoint/2010/main" val="4288948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BC862-1CE0-4E23-B429-956A412BAA4C}"/>
              </a:ext>
            </a:extLst>
          </p:cNvPr>
          <p:cNvSpPr>
            <a:spLocks noGrp="1"/>
          </p:cNvSpPr>
          <p:nvPr>
            <p:ph type="title"/>
          </p:nvPr>
        </p:nvSpPr>
        <p:spPr>
          <a:xfrm>
            <a:off x="0" y="0"/>
            <a:ext cx="12192000" cy="885825"/>
          </a:xfrm>
        </p:spPr>
        <p:txBody>
          <a:bodyPr/>
          <a:lstStyle/>
          <a:p>
            <a:pPr algn="ctr"/>
            <a:r>
              <a:rPr lang="en-US" dirty="0"/>
              <a:t>Confusion matrix</a:t>
            </a:r>
          </a:p>
        </p:txBody>
      </p:sp>
      <p:pic>
        <p:nvPicPr>
          <p:cNvPr id="5" name="Content Placeholder 4">
            <a:extLst>
              <a:ext uri="{FF2B5EF4-FFF2-40B4-BE49-F238E27FC236}">
                <a16:creationId xmlns:a16="http://schemas.microsoft.com/office/drawing/2014/main" id="{17F2225E-C771-4F91-B8A7-5193280C8A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85826"/>
            <a:ext cx="12192000" cy="5972174"/>
          </a:xfrm>
        </p:spPr>
      </p:pic>
    </p:spTree>
    <p:extLst>
      <p:ext uri="{BB962C8B-B14F-4D97-AF65-F5344CB8AC3E}">
        <p14:creationId xmlns:p14="http://schemas.microsoft.com/office/powerpoint/2010/main" val="992380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726FF-B022-49D5-AB84-053F797EFFD6}"/>
              </a:ext>
            </a:extLst>
          </p:cNvPr>
          <p:cNvSpPr>
            <a:spLocks noGrp="1"/>
          </p:cNvSpPr>
          <p:nvPr>
            <p:ph type="title"/>
          </p:nvPr>
        </p:nvSpPr>
        <p:spPr>
          <a:xfrm>
            <a:off x="-1" y="1"/>
            <a:ext cx="12191999" cy="4884738"/>
          </a:xfrm>
        </p:spPr>
        <p:txBody>
          <a:bodyPr>
            <a:normAutofit/>
          </a:bodyPr>
          <a:lstStyle/>
          <a:p>
            <a:pPr algn="ctr"/>
            <a:r>
              <a:rPr lang="en-US" sz="4800" dirty="0"/>
              <a:t>Customers’ seniority(the time they spent) with the bank have had a positive impact on the relationship between the two, such that, the longer the customer stays with the bank, the higher their chance of them of getting the Christmas bonus offer. </a:t>
            </a:r>
          </a:p>
        </p:txBody>
      </p:sp>
      <p:graphicFrame>
        <p:nvGraphicFramePr>
          <p:cNvPr id="4" name="Object 3">
            <a:extLst>
              <a:ext uri="{FF2B5EF4-FFF2-40B4-BE49-F238E27FC236}">
                <a16:creationId xmlns:a16="http://schemas.microsoft.com/office/drawing/2014/main" id="{8BAC4B92-59A4-4422-A12C-DD5ED39A32ED}"/>
              </a:ext>
            </a:extLst>
          </p:cNvPr>
          <p:cNvGraphicFramePr>
            <a:graphicFrameLocks noChangeAspect="1"/>
          </p:cNvGraphicFramePr>
          <p:nvPr>
            <p:extLst>
              <p:ext uri="{D42A27DB-BD31-4B8C-83A1-F6EECF244321}">
                <p14:modId xmlns:p14="http://schemas.microsoft.com/office/powerpoint/2010/main" val="3273570152"/>
              </p:ext>
            </p:extLst>
          </p:nvPr>
        </p:nvGraphicFramePr>
        <p:xfrm>
          <a:off x="0" y="4884738"/>
          <a:ext cx="12192000" cy="1973262"/>
        </p:xfrm>
        <a:graphic>
          <a:graphicData uri="http://schemas.openxmlformats.org/presentationml/2006/ole">
            <mc:AlternateContent xmlns:mc="http://schemas.openxmlformats.org/markup-compatibility/2006">
              <mc:Choice xmlns:v="urn:schemas-microsoft-com:vml" Requires="v">
                <p:oleObj spid="_x0000_s2054" name="Macro-Enabled Worksheet" r:id="rId3" imgW="1838203" imgH="390397" progId="Excel.SheetMacroEnabled.12">
                  <p:embed/>
                </p:oleObj>
              </mc:Choice>
              <mc:Fallback>
                <p:oleObj name="Macro-Enabled Worksheet" r:id="rId3" imgW="1838203" imgH="390397" progId="Excel.SheetMacroEnabled.12">
                  <p:embed/>
                  <p:pic>
                    <p:nvPicPr>
                      <p:cNvPr id="0" name=""/>
                      <p:cNvPicPr/>
                      <p:nvPr/>
                    </p:nvPicPr>
                    <p:blipFill>
                      <a:blip r:embed="rId4"/>
                      <a:stretch>
                        <a:fillRect/>
                      </a:stretch>
                    </p:blipFill>
                    <p:spPr>
                      <a:xfrm>
                        <a:off x="0" y="4884738"/>
                        <a:ext cx="12192000" cy="1973262"/>
                      </a:xfrm>
                      <a:prstGeom prst="rect">
                        <a:avLst/>
                      </a:prstGeom>
                    </p:spPr>
                  </p:pic>
                </p:oleObj>
              </mc:Fallback>
            </mc:AlternateContent>
          </a:graphicData>
        </a:graphic>
      </p:graphicFrame>
    </p:spTree>
    <p:extLst>
      <p:ext uri="{BB962C8B-B14F-4D97-AF65-F5344CB8AC3E}">
        <p14:creationId xmlns:p14="http://schemas.microsoft.com/office/powerpoint/2010/main" val="174325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F66DD-21EE-49BA-AFB5-2F285B4A3DE2}"/>
              </a:ext>
            </a:extLst>
          </p:cNvPr>
          <p:cNvSpPr>
            <a:spLocks noGrp="1"/>
          </p:cNvSpPr>
          <p:nvPr>
            <p:ph type="title"/>
          </p:nvPr>
        </p:nvSpPr>
        <p:spPr>
          <a:xfrm>
            <a:off x="0" y="1"/>
            <a:ext cx="12192000" cy="6858000"/>
          </a:xfrm>
        </p:spPr>
        <p:txBody>
          <a:bodyPr>
            <a:normAutofit/>
          </a:bodyPr>
          <a:lstStyle/>
          <a:p>
            <a:pPr algn="ctr"/>
            <a:r>
              <a:rPr lang="en-US" sz="19900" dirty="0"/>
              <a:t>Customer type</a:t>
            </a:r>
          </a:p>
        </p:txBody>
      </p:sp>
    </p:spTree>
    <p:extLst>
      <p:ext uri="{BB962C8B-B14F-4D97-AF65-F5344CB8AC3E}">
        <p14:creationId xmlns:p14="http://schemas.microsoft.com/office/powerpoint/2010/main" val="1405230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6AEC9-07A4-4C17-8C7F-6A276A3F303C}"/>
              </a:ext>
            </a:extLst>
          </p:cNvPr>
          <p:cNvSpPr>
            <a:spLocks noGrp="1"/>
          </p:cNvSpPr>
          <p:nvPr>
            <p:ph type="title"/>
          </p:nvPr>
        </p:nvSpPr>
        <p:spPr>
          <a:xfrm>
            <a:off x="0" y="1"/>
            <a:ext cx="12192000" cy="857249"/>
          </a:xfrm>
        </p:spPr>
        <p:txBody>
          <a:bodyPr/>
          <a:lstStyle/>
          <a:p>
            <a:pPr algn="ctr"/>
            <a:r>
              <a:rPr lang="en-US" dirty="0"/>
              <a:t>ROC curve</a:t>
            </a:r>
          </a:p>
        </p:txBody>
      </p:sp>
      <p:pic>
        <p:nvPicPr>
          <p:cNvPr id="5" name="Content Placeholder 4">
            <a:extLst>
              <a:ext uri="{FF2B5EF4-FFF2-40B4-BE49-F238E27FC236}">
                <a16:creationId xmlns:a16="http://schemas.microsoft.com/office/drawing/2014/main" id="{EC861877-8E29-4599-843E-D060BD58B07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57250"/>
            <a:ext cx="12191999" cy="6000749"/>
          </a:xfrm>
        </p:spPr>
      </p:pic>
    </p:spTree>
    <p:extLst>
      <p:ext uri="{BB962C8B-B14F-4D97-AF65-F5344CB8AC3E}">
        <p14:creationId xmlns:p14="http://schemas.microsoft.com/office/powerpoint/2010/main" val="679921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C3397-5205-4ED4-BD86-FB86DE27BF71}"/>
              </a:ext>
            </a:extLst>
          </p:cNvPr>
          <p:cNvSpPr>
            <a:spLocks noGrp="1"/>
          </p:cNvSpPr>
          <p:nvPr>
            <p:ph type="title"/>
          </p:nvPr>
        </p:nvSpPr>
        <p:spPr>
          <a:xfrm>
            <a:off x="0" y="1"/>
            <a:ext cx="12192000" cy="3148686"/>
          </a:xfrm>
        </p:spPr>
        <p:txBody>
          <a:bodyPr/>
          <a:lstStyle/>
          <a:p>
            <a:pPr algn="ctr"/>
            <a:r>
              <a:rPr lang="en-US" dirty="0"/>
              <a:t>The customer type can slightly tell us about the general distribution of this section. We mostly see that primary customers(1) and co-owners(2), dominate the majority of this field and are worthy of the bonus.</a:t>
            </a:r>
          </a:p>
        </p:txBody>
      </p:sp>
      <p:pic>
        <p:nvPicPr>
          <p:cNvPr id="5" name="Content Placeholder 4">
            <a:extLst>
              <a:ext uri="{FF2B5EF4-FFF2-40B4-BE49-F238E27FC236}">
                <a16:creationId xmlns:a16="http://schemas.microsoft.com/office/drawing/2014/main" id="{FE4C7045-5055-4439-BB08-F465E10D98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3148686"/>
            <a:ext cx="12192000" cy="3709313"/>
          </a:xfrm>
        </p:spPr>
      </p:pic>
    </p:spTree>
    <p:extLst>
      <p:ext uri="{BB962C8B-B14F-4D97-AF65-F5344CB8AC3E}">
        <p14:creationId xmlns:p14="http://schemas.microsoft.com/office/powerpoint/2010/main" val="1008938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E7EC-B0B6-42F5-8122-5EEAD1967BD6}"/>
              </a:ext>
            </a:extLst>
          </p:cNvPr>
          <p:cNvSpPr>
            <a:spLocks noGrp="1"/>
          </p:cNvSpPr>
          <p:nvPr>
            <p:ph type="title"/>
          </p:nvPr>
        </p:nvSpPr>
        <p:spPr>
          <a:xfrm>
            <a:off x="0" y="1"/>
            <a:ext cx="12192000" cy="6858000"/>
          </a:xfrm>
        </p:spPr>
        <p:txBody>
          <a:bodyPr>
            <a:normAutofit/>
          </a:bodyPr>
          <a:lstStyle/>
          <a:p>
            <a:pPr algn="ctr"/>
            <a:r>
              <a:rPr lang="en-US" sz="28700" dirty="0"/>
              <a:t>Gender</a:t>
            </a:r>
          </a:p>
        </p:txBody>
      </p:sp>
    </p:spTree>
    <p:extLst>
      <p:ext uri="{BB962C8B-B14F-4D97-AF65-F5344CB8AC3E}">
        <p14:creationId xmlns:p14="http://schemas.microsoft.com/office/powerpoint/2010/main" val="3928219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8F703-1C97-4410-8004-BB0C87252CB8}"/>
              </a:ext>
            </a:extLst>
          </p:cNvPr>
          <p:cNvSpPr>
            <a:spLocks noGrp="1"/>
          </p:cNvSpPr>
          <p:nvPr>
            <p:ph type="title"/>
          </p:nvPr>
        </p:nvSpPr>
        <p:spPr>
          <a:xfrm>
            <a:off x="0" y="1"/>
            <a:ext cx="12192000" cy="681036"/>
          </a:xfrm>
        </p:spPr>
        <p:txBody>
          <a:bodyPr>
            <a:normAutofit fontScale="90000"/>
          </a:bodyPr>
          <a:lstStyle/>
          <a:p>
            <a:pPr algn="ctr"/>
            <a:r>
              <a:rPr lang="en-US" dirty="0"/>
              <a:t>Gender’s role. ROC curve</a:t>
            </a:r>
          </a:p>
        </p:txBody>
      </p:sp>
      <p:pic>
        <p:nvPicPr>
          <p:cNvPr id="5" name="Content Placeholder 4">
            <a:extLst>
              <a:ext uri="{FF2B5EF4-FFF2-40B4-BE49-F238E27FC236}">
                <a16:creationId xmlns:a16="http://schemas.microsoft.com/office/drawing/2014/main" id="{1E43A077-F9DD-4CFD-92D1-F20FAD426C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300" y="681037"/>
            <a:ext cx="12077700" cy="6176963"/>
          </a:xfrm>
        </p:spPr>
      </p:pic>
    </p:spTree>
    <p:extLst>
      <p:ext uri="{BB962C8B-B14F-4D97-AF65-F5344CB8AC3E}">
        <p14:creationId xmlns:p14="http://schemas.microsoft.com/office/powerpoint/2010/main" val="3869398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06F88-E768-4A38-9181-A132CC442102}"/>
              </a:ext>
            </a:extLst>
          </p:cNvPr>
          <p:cNvSpPr>
            <a:spLocks noGrp="1"/>
          </p:cNvSpPr>
          <p:nvPr>
            <p:ph type="title"/>
          </p:nvPr>
        </p:nvSpPr>
        <p:spPr>
          <a:xfrm>
            <a:off x="0" y="1"/>
            <a:ext cx="12192000" cy="681036"/>
          </a:xfrm>
        </p:spPr>
        <p:txBody>
          <a:bodyPr>
            <a:normAutofit fontScale="90000"/>
          </a:bodyPr>
          <a:lstStyle/>
          <a:p>
            <a:pPr algn="ctr"/>
            <a:r>
              <a:rPr lang="en-US" dirty="0"/>
              <a:t>Recall curve</a:t>
            </a:r>
          </a:p>
        </p:txBody>
      </p:sp>
      <p:pic>
        <p:nvPicPr>
          <p:cNvPr id="5" name="Content Placeholder 4">
            <a:extLst>
              <a:ext uri="{FF2B5EF4-FFF2-40B4-BE49-F238E27FC236}">
                <a16:creationId xmlns:a16="http://schemas.microsoft.com/office/drawing/2014/main" id="{BD161A37-9FEB-43E5-A81D-185038015F3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681037"/>
            <a:ext cx="12192000" cy="6176962"/>
          </a:xfrm>
        </p:spPr>
      </p:pic>
    </p:spTree>
    <p:extLst>
      <p:ext uri="{BB962C8B-B14F-4D97-AF65-F5344CB8AC3E}">
        <p14:creationId xmlns:p14="http://schemas.microsoft.com/office/powerpoint/2010/main" val="857697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E9308-76A9-4133-A033-AB181627A8A3}"/>
              </a:ext>
            </a:extLst>
          </p:cNvPr>
          <p:cNvSpPr>
            <a:spLocks noGrp="1"/>
          </p:cNvSpPr>
          <p:nvPr>
            <p:ph type="title"/>
          </p:nvPr>
        </p:nvSpPr>
        <p:spPr>
          <a:xfrm>
            <a:off x="0" y="1"/>
            <a:ext cx="12192000" cy="681036"/>
          </a:xfrm>
        </p:spPr>
        <p:txBody>
          <a:bodyPr>
            <a:normAutofit fontScale="90000"/>
          </a:bodyPr>
          <a:lstStyle/>
          <a:p>
            <a:pPr algn="ctr"/>
            <a:r>
              <a:rPr lang="en-US" dirty="0"/>
              <a:t>Confusion matrix</a:t>
            </a:r>
          </a:p>
        </p:txBody>
      </p:sp>
      <p:pic>
        <p:nvPicPr>
          <p:cNvPr id="5" name="Content Placeholder 4">
            <a:extLst>
              <a:ext uri="{FF2B5EF4-FFF2-40B4-BE49-F238E27FC236}">
                <a16:creationId xmlns:a16="http://schemas.microsoft.com/office/drawing/2014/main" id="{4C5B0ACE-D9B1-4FD6-8D41-39C2848FA8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681037"/>
            <a:ext cx="12192000" cy="6176962"/>
          </a:xfrm>
        </p:spPr>
      </p:pic>
    </p:spTree>
    <p:extLst>
      <p:ext uri="{BB962C8B-B14F-4D97-AF65-F5344CB8AC3E}">
        <p14:creationId xmlns:p14="http://schemas.microsoft.com/office/powerpoint/2010/main" val="1867579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6C9F9-60A7-4829-B64B-767D472CDE5B}"/>
              </a:ext>
            </a:extLst>
          </p:cNvPr>
          <p:cNvSpPr>
            <a:spLocks noGrp="1"/>
          </p:cNvSpPr>
          <p:nvPr>
            <p:ph type="title"/>
          </p:nvPr>
        </p:nvSpPr>
        <p:spPr>
          <a:xfrm>
            <a:off x="0" y="1"/>
            <a:ext cx="12192000" cy="2671656"/>
          </a:xfrm>
        </p:spPr>
        <p:txBody>
          <a:bodyPr/>
          <a:lstStyle/>
          <a:p>
            <a:pPr algn="ctr"/>
            <a:r>
              <a:rPr lang="en-US" dirty="0"/>
              <a:t>Here, we detect a bias in income between the two genders. Males out-earning females. On the bright side, bonuses can be given to customers recorded as primary.</a:t>
            </a:r>
          </a:p>
        </p:txBody>
      </p:sp>
      <p:pic>
        <p:nvPicPr>
          <p:cNvPr id="6" name="Picture 5">
            <a:extLst>
              <a:ext uri="{FF2B5EF4-FFF2-40B4-BE49-F238E27FC236}">
                <a16:creationId xmlns:a16="http://schemas.microsoft.com/office/drawing/2014/main" id="{98AC2A8A-4166-4666-96B2-237BB83751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71656"/>
            <a:ext cx="12192000" cy="4186344"/>
          </a:xfrm>
          <a:prstGeom prst="rect">
            <a:avLst/>
          </a:prstGeom>
        </p:spPr>
      </p:pic>
    </p:spTree>
    <p:extLst>
      <p:ext uri="{BB962C8B-B14F-4D97-AF65-F5344CB8AC3E}">
        <p14:creationId xmlns:p14="http://schemas.microsoft.com/office/powerpoint/2010/main" val="36741859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CE134-8AF9-42BA-B232-B0A6D02F1703}"/>
              </a:ext>
            </a:extLst>
          </p:cNvPr>
          <p:cNvSpPr>
            <a:spLocks noGrp="1"/>
          </p:cNvSpPr>
          <p:nvPr>
            <p:ph type="title"/>
          </p:nvPr>
        </p:nvSpPr>
        <p:spPr>
          <a:xfrm>
            <a:off x="0" y="1"/>
            <a:ext cx="12192000" cy="6858000"/>
          </a:xfrm>
        </p:spPr>
        <p:txBody>
          <a:bodyPr>
            <a:normAutofit/>
          </a:bodyPr>
          <a:lstStyle/>
          <a:p>
            <a:pPr algn="ctr"/>
            <a:r>
              <a:rPr lang="en-US" sz="19900" dirty="0"/>
              <a:t>New customers</a:t>
            </a:r>
          </a:p>
        </p:txBody>
      </p:sp>
    </p:spTree>
    <p:extLst>
      <p:ext uri="{BB962C8B-B14F-4D97-AF65-F5344CB8AC3E}">
        <p14:creationId xmlns:p14="http://schemas.microsoft.com/office/powerpoint/2010/main" val="32058334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C2E29-8050-4CD7-945D-B1357E705B7D}"/>
              </a:ext>
            </a:extLst>
          </p:cNvPr>
          <p:cNvSpPr>
            <a:spLocks noGrp="1"/>
          </p:cNvSpPr>
          <p:nvPr>
            <p:ph type="title"/>
          </p:nvPr>
        </p:nvSpPr>
        <p:spPr>
          <a:xfrm>
            <a:off x="0" y="1"/>
            <a:ext cx="12192000" cy="681036"/>
          </a:xfrm>
        </p:spPr>
        <p:txBody>
          <a:bodyPr>
            <a:normAutofit fontScale="90000"/>
          </a:bodyPr>
          <a:lstStyle/>
          <a:p>
            <a:pPr algn="ctr"/>
            <a:r>
              <a:rPr lang="en-US" dirty="0"/>
              <a:t>New customers’ ROC curve</a:t>
            </a:r>
          </a:p>
        </p:txBody>
      </p:sp>
      <p:pic>
        <p:nvPicPr>
          <p:cNvPr id="5" name="Content Placeholder 4">
            <a:extLst>
              <a:ext uri="{FF2B5EF4-FFF2-40B4-BE49-F238E27FC236}">
                <a16:creationId xmlns:a16="http://schemas.microsoft.com/office/drawing/2014/main" id="{0A31E91F-1E3F-48D3-9B78-2A63FD9DAB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681037"/>
            <a:ext cx="12191999" cy="6176963"/>
          </a:xfrm>
        </p:spPr>
      </p:pic>
    </p:spTree>
    <p:extLst>
      <p:ext uri="{BB962C8B-B14F-4D97-AF65-F5344CB8AC3E}">
        <p14:creationId xmlns:p14="http://schemas.microsoft.com/office/powerpoint/2010/main" val="25128689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E199B-E2EE-456B-9AED-9207DC241240}"/>
              </a:ext>
            </a:extLst>
          </p:cNvPr>
          <p:cNvSpPr>
            <a:spLocks noGrp="1"/>
          </p:cNvSpPr>
          <p:nvPr>
            <p:ph type="title"/>
          </p:nvPr>
        </p:nvSpPr>
        <p:spPr>
          <a:xfrm>
            <a:off x="0" y="1"/>
            <a:ext cx="12192000" cy="800099"/>
          </a:xfrm>
        </p:spPr>
        <p:txBody>
          <a:bodyPr/>
          <a:lstStyle/>
          <a:p>
            <a:pPr algn="ctr"/>
            <a:r>
              <a:rPr lang="en-US" dirty="0"/>
              <a:t>Recall</a:t>
            </a:r>
          </a:p>
        </p:txBody>
      </p:sp>
      <p:pic>
        <p:nvPicPr>
          <p:cNvPr id="5" name="Content Placeholder 4">
            <a:extLst>
              <a:ext uri="{FF2B5EF4-FFF2-40B4-BE49-F238E27FC236}">
                <a16:creationId xmlns:a16="http://schemas.microsoft.com/office/drawing/2014/main" id="{78D5209E-3E30-4CC4-8884-5005B2C746A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00099"/>
            <a:ext cx="12192000" cy="6057899"/>
          </a:xfrm>
        </p:spPr>
      </p:pic>
    </p:spTree>
    <p:extLst>
      <p:ext uri="{BB962C8B-B14F-4D97-AF65-F5344CB8AC3E}">
        <p14:creationId xmlns:p14="http://schemas.microsoft.com/office/powerpoint/2010/main" val="3507392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C120-0DFB-4EB7-A04B-91E1564AC8CF}"/>
              </a:ext>
            </a:extLst>
          </p:cNvPr>
          <p:cNvSpPr>
            <a:spLocks noGrp="1"/>
          </p:cNvSpPr>
          <p:nvPr>
            <p:ph type="title"/>
          </p:nvPr>
        </p:nvSpPr>
        <p:spPr>
          <a:xfrm>
            <a:off x="0" y="1"/>
            <a:ext cx="12192000" cy="681036"/>
          </a:xfrm>
        </p:spPr>
        <p:txBody>
          <a:bodyPr>
            <a:normAutofit fontScale="90000"/>
          </a:bodyPr>
          <a:lstStyle/>
          <a:p>
            <a:pPr algn="ctr"/>
            <a:r>
              <a:rPr lang="en-US" dirty="0"/>
              <a:t>Confusion matrix</a:t>
            </a:r>
          </a:p>
        </p:txBody>
      </p:sp>
      <p:pic>
        <p:nvPicPr>
          <p:cNvPr id="5" name="Content Placeholder 4">
            <a:extLst>
              <a:ext uri="{FF2B5EF4-FFF2-40B4-BE49-F238E27FC236}">
                <a16:creationId xmlns:a16="http://schemas.microsoft.com/office/drawing/2014/main" id="{F437D145-6FD5-4A7D-8C37-E4C1EBD0E0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681037"/>
            <a:ext cx="12191999" cy="6176963"/>
          </a:xfrm>
        </p:spPr>
      </p:pic>
    </p:spTree>
    <p:extLst>
      <p:ext uri="{BB962C8B-B14F-4D97-AF65-F5344CB8AC3E}">
        <p14:creationId xmlns:p14="http://schemas.microsoft.com/office/powerpoint/2010/main" val="3312815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9F957-7363-4B43-B109-DD47F7A02A79}"/>
              </a:ext>
            </a:extLst>
          </p:cNvPr>
          <p:cNvSpPr>
            <a:spLocks noGrp="1"/>
          </p:cNvSpPr>
          <p:nvPr>
            <p:ph type="title"/>
          </p:nvPr>
        </p:nvSpPr>
        <p:spPr>
          <a:xfrm>
            <a:off x="-1" y="1"/>
            <a:ext cx="12191999" cy="5098224"/>
          </a:xfrm>
        </p:spPr>
        <p:txBody>
          <a:bodyPr/>
          <a:lstStyle/>
          <a:p>
            <a:pPr algn="ctr"/>
            <a:r>
              <a:rPr lang="en-US" dirty="0"/>
              <a:t>And, this model has proven to us that newer customers(signed up within the last 6 months) tended to more active than former ones. Earning higher salaries, making more bank transactions, and therefore, are more worthy of the Christmas bonus</a:t>
            </a:r>
          </a:p>
        </p:txBody>
      </p:sp>
      <p:pic>
        <p:nvPicPr>
          <p:cNvPr id="5" name="Content Placeholder 4">
            <a:extLst>
              <a:ext uri="{FF2B5EF4-FFF2-40B4-BE49-F238E27FC236}">
                <a16:creationId xmlns:a16="http://schemas.microsoft.com/office/drawing/2014/main" id="{A9844FD4-2041-49F3-8E2A-8989B6251BB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5098224"/>
            <a:ext cx="12192000" cy="1759776"/>
          </a:xfrm>
        </p:spPr>
      </p:pic>
    </p:spTree>
    <p:extLst>
      <p:ext uri="{BB962C8B-B14F-4D97-AF65-F5344CB8AC3E}">
        <p14:creationId xmlns:p14="http://schemas.microsoft.com/office/powerpoint/2010/main" val="10127140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86DF31-B9C6-4E48-9537-8AFDBAC5C90D}"/>
              </a:ext>
            </a:extLst>
          </p:cNvPr>
          <p:cNvSpPr>
            <a:spLocks noGrp="1"/>
          </p:cNvSpPr>
          <p:nvPr>
            <p:ph idx="1"/>
          </p:nvPr>
        </p:nvSpPr>
        <p:spPr>
          <a:xfrm>
            <a:off x="0" y="0"/>
            <a:ext cx="12192000" cy="6858000"/>
          </a:xfrm>
        </p:spPr>
        <p:txBody>
          <a:bodyPr/>
          <a:lstStyle/>
          <a:p>
            <a:pPr marL="0" indent="0" algn="ctr">
              <a:buNone/>
            </a:pPr>
            <a:r>
              <a:rPr lang="en-US" dirty="0"/>
              <a:t>So, there you have it!</a:t>
            </a:r>
          </a:p>
          <a:p>
            <a:pPr marL="0" indent="0" algn="ctr">
              <a:buNone/>
            </a:pPr>
            <a:r>
              <a:rPr lang="en-US" dirty="0"/>
              <a:t>My top 5 approaches in figuring out which customers should the bank award with the bonus.</a:t>
            </a:r>
          </a:p>
          <a:p>
            <a:pPr marL="0" indent="0" algn="ctr">
              <a:buNone/>
            </a:pPr>
            <a:endParaRPr lang="en-US" dirty="0"/>
          </a:p>
          <a:p>
            <a:pPr marL="0" indent="0" algn="ctr">
              <a:buNone/>
            </a:pPr>
            <a:r>
              <a:rPr lang="en-US" dirty="0"/>
              <a:t>I hope this </a:t>
            </a:r>
            <a:r>
              <a:rPr lang="en-US"/>
              <a:t>was helpful.</a:t>
            </a:r>
            <a:endParaRPr lang="en-US" dirty="0"/>
          </a:p>
        </p:txBody>
      </p:sp>
    </p:spTree>
    <p:extLst>
      <p:ext uri="{BB962C8B-B14F-4D97-AF65-F5344CB8AC3E}">
        <p14:creationId xmlns:p14="http://schemas.microsoft.com/office/powerpoint/2010/main" val="39328295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7363C-B1C2-4351-B90D-282B4756EE64}"/>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0E54A7D0-AE18-41B5-99B7-34B797B3C6F4}"/>
              </a:ext>
            </a:extLst>
          </p:cNvPr>
          <p:cNvSpPr>
            <a:spLocks noGrp="1"/>
          </p:cNvSpPr>
          <p:nvPr>
            <p:ph idx="1"/>
          </p:nvPr>
        </p:nvSpPr>
        <p:spPr/>
        <p:txBody>
          <a:bodyPr>
            <a:normAutofit/>
          </a:bodyPr>
          <a:lstStyle/>
          <a:p>
            <a:pPr marL="0" indent="0" algn="ctr">
              <a:buNone/>
            </a:pPr>
            <a:r>
              <a:rPr lang="en-US" sz="3600" dirty="0"/>
              <a:t>Abdullah </a:t>
            </a:r>
            <a:r>
              <a:rPr lang="en-US" sz="3600" dirty="0" err="1"/>
              <a:t>kasri</a:t>
            </a:r>
            <a:r>
              <a:rPr lang="en-US" sz="3600" dirty="0"/>
              <a:t> </a:t>
            </a:r>
          </a:p>
          <a:p>
            <a:pPr marL="0" indent="0" algn="ctr">
              <a:buNone/>
            </a:pPr>
            <a:r>
              <a:rPr lang="en-US" sz="3600" dirty="0"/>
              <a:t>Data science intern at Data Glacier</a:t>
            </a:r>
          </a:p>
          <a:p>
            <a:pPr marL="0" indent="0" algn="ctr">
              <a:buNone/>
            </a:pPr>
            <a:r>
              <a:rPr lang="en-US" sz="3600" dirty="0"/>
              <a:t>Week-8 project; Customer Segmentation</a:t>
            </a:r>
          </a:p>
        </p:txBody>
      </p:sp>
    </p:spTree>
    <p:extLst>
      <p:ext uri="{BB962C8B-B14F-4D97-AF65-F5344CB8AC3E}">
        <p14:creationId xmlns:p14="http://schemas.microsoft.com/office/powerpoint/2010/main" val="2444607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414</Words>
  <Application>Microsoft Office PowerPoint</Application>
  <PresentationFormat>Widescreen</PresentationFormat>
  <Paragraphs>41</Paragraphs>
  <Slides>28</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4" baseType="lpstr">
      <vt:lpstr>Arial</vt:lpstr>
      <vt:lpstr>Calibri</vt:lpstr>
      <vt:lpstr>Calibri Light</vt:lpstr>
      <vt:lpstr>Lato Extended</vt:lpstr>
      <vt:lpstr>Office Theme</vt:lpstr>
      <vt:lpstr>Macro-Enabled Worksheet</vt:lpstr>
      <vt:lpstr>Customer Segmentation Week 12 project</vt:lpstr>
      <vt:lpstr>I’ve decided to split and analyze the </vt:lpstr>
      <vt:lpstr>But first,</vt:lpstr>
      <vt:lpstr>Activity index</vt:lpstr>
      <vt:lpstr>ROC curve shows a modest effect</vt:lpstr>
      <vt:lpstr>Recall also is telling us something similar about the effect</vt:lpstr>
      <vt:lpstr>Confusion Matrix</vt:lpstr>
      <vt:lpstr>We can summarize this section by concluding that the activity level of customers typically increases as does their age. But it showed little to no effect whether the customers were female or male </vt:lpstr>
      <vt:lpstr>Customers’ relationship with the bank</vt:lpstr>
      <vt:lpstr>ROC curve</vt:lpstr>
      <vt:lpstr>Recall curve</vt:lpstr>
      <vt:lpstr>Confusion matrix</vt:lpstr>
      <vt:lpstr>Customers’ seniority(the time they spent) with the bank have had a positive impact on the relationship between the two, such that, the longer the customer stays with the bank, the higher their chance of them of getting the Christmas bonus offer. </vt:lpstr>
      <vt:lpstr>Customer type</vt:lpstr>
      <vt:lpstr>ROC curve</vt:lpstr>
      <vt:lpstr>The customer type can slightly tell us about the general distribution of this section. We mostly see that primary customers(1) and co-owners(2), dominate the majority of this field and are worthy of the bonus.</vt:lpstr>
      <vt:lpstr>Gender</vt:lpstr>
      <vt:lpstr>Gender’s role. ROC curve</vt:lpstr>
      <vt:lpstr>Recall curve</vt:lpstr>
      <vt:lpstr>Confusion matrix</vt:lpstr>
      <vt:lpstr>Here, we detect a bias in income between the two genders. Males out-earning females. On the bright side, bonuses can be given to customers recorded as primary.</vt:lpstr>
      <vt:lpstr>New customers</vt:lpstr>
      <vt:lpstr>New customers’ ROC curve</vt:lpstr>
      <vt:lpstr>Recall</vt:lpstr>
      <vt:lpstr>Confusion matrix</vt:lpstr>
      <vt:lpstr>And, this model has proven to us that newer customers(signed up within the last 6 months) tended to more active than former ones. Earning higher salaries, making more bank transactions, and therefore, are more worthy of the Christmas bonus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Segmentation Week 8 project</dc:title>
  <dc:creator>ABDULLAH KASRI</dc:creator>
  <cp:lastModifiedBy>ABDULLAH KASRI</cp:lastModifiedBy>
  <cp:revision>12</cp:revision>
  <dcterms:created xsi:type="dcterms:W3CDTF">2021-09-29T11:55:46Z</dcterms:created>
  <dcterms:modified xsi:type="dcterms:W3CDTF">2021-10-10T14:43:58Z</dcterms:modified>
</cp:coreProperties>
</file>